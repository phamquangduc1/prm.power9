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Noto Sans Bold" charset="1" panose="020B0802040504020204"/>
      <p:regular r:id="rId20"/>
    </p:embeddedFont>
    <p:embeddedFont>
      <p:font typeface="Noto Sans" charset="1" panose="020B05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figma.com/design/xqBod46IwxD7E9thJZLWqr/Untitled?node-id=0-1&amp;t=NwSDJv0Ra4xso7qx-1" TargetMode="External" Type="http://schemas.openxmlformats.org/officeDocument/2006/relationships/hyperlink"/><Relationship Id="rId7" Target="https://github.com/PhamQuangDuc1/PRM.POWER9.gi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3912">
            <a:off x="-88989" y="-355270"/>
            <a:ext cx="2595032" cy="2595032"/>
          </a:xfrm>
          <a:custGeom>
            <a:avLst/>
            <a:gdLst/>
            <a:ahLst/>
            <a:cxnLst/>
            <a:rect r="r" b="b" t="t" l="l"/>
            <a:pathLst>
              <a:path h="2595032" w="2595032">
                <a:moveTo>
                  <a:pt x="0" y="0"/>
                </a:moveTo>
                <a:lnTo>
                  <a:pt x="2595032" y="0"/>
                </a:lnTo>
                <a:lnTo>
                  <a:pt x="2595032" y="2595032"/>
                </a:lnTo>
                <a:lnTo>
                  <a:pt x="0" y="259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79675">
            <a:off x="-268816" y="7818037"/>
            <a:ext cx="2595032" cy="2595032"/>
          </a:xfrm>
          <a:custGeom>
            <a:avLst/>
            <a:gdLst/>
            <a:ahLst/>
            <a:cxnLst/>
            <a:rect r="r" b="b" t="t" l="l"/>
            <a:pathLst>
              <a:path h="2595032" w="2595032">
                <a:moveTo>
                  <a:pt x="2595032" y="0"/>
                </a:moveTo>
                <a:lnTo>
                  <a:pt x="0" y="0"/>
                </a:lnTo>
                <a:lnTo>
                  <a:pt x="0" y="2595031"/>
                </a:lnTo>
                <a:lnTo>
                  <a:pt x="2595032" y="2595031"/>
                </a:lnTo>
                <a:lnTo>
                  <a:pt x="25950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12009" y="9153525"/>
            <a:ext cx="1276796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6" tooltip="https://www.figma.com/design/xqBod46IwxD7E9thJZLWqr/Untitled?node-id=0-1&amp;t=NwSDJv0Ra4xso7qx-1"/>
              </a:rPr>
              <a:t>figma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3724" y="9153525"/>
            <a:ext cx="1399877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7" tooltip="https://github.com/PhamQuangDuc1/PRM.POWER9.git"/>
              </a:rPr>
              <a:t>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563" y="711234"/>
            <a:ext cx="13920671" cy="1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7"/>
              </a:lnSpc>
            </a:pPr>
            <a:r>
              <a:rPr lang="en-US" b="true" sz="8900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9657" y="1828583"/>
            <a:ext cx="4278511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9929" y="3780937"/>
            <a:ext cx="344507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thành viên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5184" y="6941649"/>
            <a:ext cx="2474565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đối tượng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9657" y="5407700"/>
            <a:ext cx="577334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Phạm Quang Đức -se182178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Văn Quang Duy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Nguyễn Tống Khánh Vĩnh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Đặng Đình Long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98842" y="3790462"/>
            <a:ext cx="1649164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vấn đề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98842" y="4945108"/>
            <a:ext cx="4960458" cy="14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Môi</a:t>
            </a: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trường sống "chống lại" thói quen</a:t>
            </a:r>
          </a:p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Quỹ thời gian bị xé lẻ </a:t>
            </a:r>
          </a:p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Sự cô lập xã hội</a:t>
            </a:r>
          </a:p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Đo lường sai cách gây áp lực ngược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5184" y="8187054"/>
            <a:ext cx="4960458" cy="10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Bậ</a:t>
            </a: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 rộn &amp; Quá tải (Primary Persona)</a:t>
            </a:r>
          </a:p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Tìm kiếm Cân bằng &amp; Chữa lành</a:t>
            </a:r>
          </a:p>
          <a:p>
            <a:pPr algn="l">
              <a:lnSpc>
                <a:spcPts val="2904"/>
              </a:lnSpc>
            </a:pPr>
            <a:r>
              <a:rPr lang="en-US" sz="207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Bảo dưỡng cơ thể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7052" y="128584"/>
            <a:ext cx="7310912" cy="297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9"/>
              </a:lnSpc>
            </a:pPr>
            <a:r>
              <a:rPr lang="en-US" sz="9999" b="true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&amp; PERSONA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5961784" y="7960784"/>
            <a:ext cx="2595032" cy="2595032"/>
          </a:xfrm>
          <a:custGeom>
            <a:avLst/>
            <a:gdLst/>
            <a:ahLst/>
            <a:cxnLst/>
            <a:rect r="r" b="b" t="t" l="l"/>
            <a:pathLst>
              <a:path h="2595032" w="2595032">
                <a:moveTo>
                  <a:pt x="2595032" y="0"/>
                </a:moveTo>
                <a:lnTo>
                  <a:pt x="0" y="0"/>
                </a:lnTo>
                <a:lnTo>
                  <a:pt x="0" y="2595032"/>
                </a:lnTo>
                <a:lnTo>
                  <a:pt x="2595032" y="2595032"/>
                </a:lnTo>
                <a:lnTo>
                  <a:pt x="25950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ns3:svgBlip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-140664" y="-125702"/>
            <a:ext cx="2595032" cy="2595032"/>
          </a:xfrm>
          <a:custGeom>
            <a:avLst/>
            <a:gdLst/>
            <a:ahLst/>
            <a:cxnLst/>
            <a:rect r="r" b="b" t="t" l="l"/>
            <a:pathLst>
              <a:path h="2595032" w="2595032">
                <a:moveTo>
                  <a:pt x="2595032" y="0"/>
                </a:moveTo>
                <a:lnTo>
                  <a:pt x="0" y="0"/>
                </a:lnTo>
                <a:lnTo>
                  <a:pt x="0" y="2595032"/>
                </a:lnTo>
                <a:lnTo>
                  <a:pt x="2595032" y="2595032"/>
                </a:lnTo>
                <a:lnTo>
                  <a:pt x="25950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ns3:svgBlip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Template worksheet preview" id="9001"/>
          <p:cNvPicPr/>
          <p:nvPr/>
        </p:nvPicPr>
        <p:blipFill>
          <a:blip r:embed="rId4"/>
          <a:stretch>
            <a:fillRect/>
          </a:stretch>
        </p:blipFill>
        <p:spPr>
          <a:xfrm>
            <a:off x="822664" y="3343109"/>
            <a:ext cx="16230600" cy="5602274"/>
          </a:xfrm>
          <a:prstGeom prst="rect"/>
        </p:spPr>
      </p:pic>
      <p:sp>
        <p:nvSpPr>
          <p:cNvPr name="TextBox 6" id="6"/>
          <p:cNvSpPr txBox="true"/>
          <p:nvPr/>
        </p:nvSpPr>
        <p:spPr>
          <a:xfrm rot="0">
            <a:off x="9748984" y="705167"/>
            <a:ext cx="391150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8CA8"/>
                </a:solidFill>
                <a:latin typeface="Noto Sans"/>
                <a:ea typeface="Noto Sans"/>
                <a:cs typeface="Noto Sans"/>
                <a:sym typeface="Noto Sans"/>
              </a:rPr>
              <a:t>proble</a:t>
            </a:r>
            <a:r>
              <a:rPr lang="en-US" sz="3399">
                <a:solidFill>
                  <a:srgbClr val="548CA8"/>
                </a:solidFill>
                <a:latin typeface="Noto Sans"/>
                <a:ea typeface="Noto Sans"/>
                <a:cs typeface="Noto Sans"/>
                <a:sym typeface="Noto Sans"/>
              </a:rPr>
              <a:t>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48984" y="1563684"/>
            <a:ext cx="604048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48CA8"/>
                </a:solidFill>
                <a:latin typeface="Noto Sans"/>
                <a:ea typeface="Noto Sans"/>
                <a:cs typeface="Noto Sans"/>
                <a:sym typeface="Noto Sans"/>
              </a:rPr>
              <a:t>cần </a:t>
            </a:r>
            <a:r>
              <a:rPr lang="en-US" sz="3399">
                <a:solidFill>
                  <a:srgbClr val="548CA8"/>
                </a:solidFill>
                <a:latin typeface="Noto Sans"/>
                <a:ea typeface="Noto Sans"/>
                <a:cs typeface="Noto Sans"/>
                <a:sym typeface="Noto Sans"/>
              </a:rPr>
              <a:t>một cách để chọn và theo dõi các thói quen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24595"/>
            <a:ext cx="18691453" cy="2862405"/>
            <a:chOff x="0" y="0"/>
            <a:chExt cx="2895795" cy="443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5795" cy="443461"/>
            </a:xfrm>
            <a:custGeom>
              <a:avLst/>
              <a:gdLst/>
              <a:ahLst/>
              <a:cxnLst/>
              <a:rect r="r" b="b" t="t" l="l"/>
              <a:pathLst>
                <a:path h="443461" w="2895795">
                  <a:moveTo>
                    <a:pt x="0" y="0"/>
                  </a:moveTo>
                  <a:lnTo>
                    <a:pt x="2895795" y="0"/>
                  </a:lnTo>
                  <a:lnTo>
                    <a:pt x="2895795" y="443461"/>
                  </a:lnTo>
                  <a:lnTo>
                    <a:pt x="0" y="443461"/>
                  </a:lnTo>
                  <a:close/>
                </a:path>
              </a:pathLst>
            </a:custGeom>
            <a:blipFill>
              <a:blip r:embed="rId2"/>
              <a:stretch>
                <a:fillRect l="0" t="-205379" r="0" b="-12968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268578" y="-268578"/>
            <a:ext cx="1966538" cy="2503694"/>
          </a:xfrm>
          <a:custGeom>
            <a:avLst/>
            <a:gdLst/>
            <a:ahLst/>
            <a:cxnLst/>
            <a:rect r="r" b="b" t="t" l="l"/>
            <a:pathLst>
              <a:path h="2503694" w="1966538">
                <a:moveTo>
                  <a:pt x="0" y="0"/>
                </a:moveTo>
                <a:lnTo>
                  <a:pt x="1966538" y="0"/>
                </a:lnTo>
                <a:lnTo>
                  <a:pt x="1966538" y="2503694"/>
                </a:lnTo>
                <a:lnTo>
                  <a:pt x="0" y="2503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0336" y="4255556"/>
            <a:ext cx="12807327" cy="169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are a company engaged in the business sector. We not only provide success to your business but also provide an excellent attitude, approach, and treatment to our clients.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09089" y="1000125"/>
            <a:ext cx="11269822" cy="297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b="true" sz="9999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 ARCHITECTURE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5400000">
            <a:off x="16052884" y="-261247"/>
            <a:ext cx="1966538" cy="2503694"/>
          </a:xfrm>
          <a:custGeom>
            <a:avLst/>
            <a:gdLst/>
            <a:ahLst/>
            <a:cxnLst/>
            <a:rect r="r" b="b" t="t" l="l"/>
            <a:pathLst>
              <a:path h="2503694" w="1966538">
                <a:moveTo>
                  <a:pt x="0" y="2503694"/>
                </a:moveTo>
                <a:lnTo>
                  <a:pt x="1966538" y="2503694"/>
                </a:lnTo>
                <a:lnTo>
                  <a:pt x="1966538" y="0"/>
                </a:lnTo>
                <a:lnTo>
                  <a:pt x="0" y="0"/>
                </a:lnTo>
                <a:lnTo>
                  <a:pt x="0" y="25036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5227" y="3194175"/>
            <a:ext cx="9464073" cy="1235293"/>
            <a:chOff x="0" y="0"/>
            <a:chExt cx="2492595" cy="325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95227" y="4715219"/>
            <a:ext cx="9464073" cy="1235293"/>
            <a:chOff x="0" y="0"/>
            <a:chExt cx="2492595" cy="325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5227" y="6236262"/>
            <a:ext cx="9464073" cy="1235293"/>
            <a:chOff x="0" y="0"/>
            <a:chExt cx="2492595" cy="325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95227" y="7757306"/>
            <a:ext cx="9464073" cy="1235293"/>
            <a:chOff x="0" y="0"/>
            <a:chExt cx="2492595" cy="325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3842966" y="6046104"/>
            <a:ext cx="5842437" cy="50553"/>
            <a:chOff x="0" y="0"/>
            <a:chExt cx="1538749" cy="133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8749" cy="13314"/>
            </a:xfrm>
            <a:custGeom>
              <a:avLst/>
              <a:gdLst/>
              <a:ahLst/>
              <a:cxnLst/>
              <a:rect r="r" b="b" t="t" l="l"/>
              <a:pathLst>
                <a:path h="13314" w="1538749">
                  <a:moveTo>
                    <a:pt x="0" y="0"/>
                  </a:moveTo>
                  <a:lnTo>
                    <a:pt x="1538749" y="0"/>
                  </a:lnTo>
                  <a:lnTo>
                    <a:pt x="1538749" y="13314"/>
                  </a:lnTo>
                  <a:lnTo>
                    <a:pt x="0" y="13314"/>
                  </a:lnTo>
                  <a:close/>
                </a:path>
              </a:pathLst>
            </a:custGeom>
            <a:solidFill>
              <a:srgbClr val="4760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8749" cy="51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10178" y="1311639"/>
            <a:ext cx="2744423" cy="5483182"/>
            <a:chOff x="0" y="0"/>
            <a:chExt cx="722811" cy="1444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2811" cy="1444130"/>
            </a:xfrm>
            <a:custGeom>
              <a:avLst/>
              <a:gdLst/>
              <a:ahLst/>
              <a:cxnLst/>
              <a:rect r="r" b="b" t="t" l="l"/>
              <a:pathLst>
                <a:path h="1444130" w="722811">
                  <a:moveTo>
                    <a:pt x="0" y="0"/>
                  </a:moveTo>
                  <a:lnTo>
                    <a:pt x="722811" y="0"/>
                  </a:lnTo>
                  <a:lnTo>
                    <a:pt x="722811" y="1444130"/>
                  </a:lnTo>
                  <a:lnTo>
                    <a:pt x="0" y="1444130"/>
                  </a:ln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22811" cy="148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-203137"/>
            <a:ext cx="4948650" cy="7674693"/>
            <a:chOff x="0" y="0"/>
            <a:chExt cx="766675" cy="11890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6675" cy="1189011"/>
            </a:xfrm>
            <a:custGeom>
              <a:avLst/>
              <a:gdLst/>
              <a:ahLst/>
              <a:cxnLst/>
              <a:rect r="r" b="b" t="t" l="l"/>
              <a:pathLst>
                <a:path h="1189011" w="766675">
                  <a:moveTo>
                    <a:pt x="0" y="0"/>
                  </a:moveTo>
                  <a:lnTo>
                    <a:pt x="766675" y="0"/>
                  </a:lnTo>
                  <a:lnTo>
                    <a:pt x="766675" y="1189011"/>
                  </a:lnTo>
                  <a:lnTo>
                    <a:pt x="0" y="1189011"/>
                  </a:lnTo>
                  <a:close/>
                </a:path>
              </a:pathLst>
            </a:custGeom>
            <a:blipFill>
              <a:blip r:embed="rId2"/>
              <a:stretch>
                <a:fillRect l="-107931" t="0" r="-4103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-406909" y="8390017"/>
            <a:ext cx="2162425" cy="2162425"/>
          </a:xfrm>
          <a:custGeom>
            <a:avLst/>
            <a:gdLst/>
            <a:ahLst/>
            <a:cxnLst/>
            <a:rect r="r" b="b" t="t" l="l"/>
            <a:pathLst>
              <a:path h="2162425" w="2162425">
                <a:moveTo>
                  <a:pt x="0" y="0"/>
                </a:moveTo>
                <a:lnTo>
                  <a:pt x="2162424" y="0"/>
                </a:lnTo>
                <a:lnTo>
                  <a:pt x="2162424" y="2162424"/>
                </a:lnTo>
                <a:lnTo>
                  <a:pt x="0" y="2162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87546" y="-231712"/>
            <a:ext cx="11764153" cy="336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790"/>
              </a:lnSpc>
            </a:pPr>
            <a:r>
              <a:rPr lang="en-US" b="true" sz="11319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THREE USER FLOWS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80161" y="3486794"/>
            <a:ext cx="7990447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the promotion technique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37852" y="5010494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business statistics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37852" y="6527828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company strategy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7852" y="8063936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 plans for next year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5227" y="3194175"/>
            <a:ext cx="9464073" cy="1235293"/>
            <a:chOff x="0" y="0"/>
            <a:chExt cx="2492595" cy="325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95227" y="4715219"/>
            <a:ext cx="9464073" cy="1235293"/>
            <a:chOff x="0" y="0"/>
            <a:chExt cx="2492595" cy="325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95227" y="6236262"/>
            <a:ext cx="9464073" cy="1235293"/>
            <a:chOff x="0" y="0"/>
            <a:chExt cx="2492595" cy="325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95227" y="7757306"/>
            <a:ext cx="9464073" cy="1235293"/>
            <a:chOff x="0" y="0"/>
            <a:chExt cx="2492595" cy="325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2595" cy="325345"/>
            </a:xfrm>
            <a:custGeom>
              <a:avLst/>
              <a:gdLst/>
              <a:ahLst/>
              <a:cxnLst/>
              <a:rect r="r" b="b" t="t" l="l"/>
              <a:pathLst>
                <a:path h="325345" w="2492595">
                  <a:moveTo>
                    <a:pt x="22087" y="0"/>
                  </a:moveTo>
                  <a:lnTo>
                    <a:pt x="2470509" y="0"/>
                  </a:lnTo>
                  <a:cubicBezTo>
                    <a:pt x="2482707" y="0"/>
                    <a:pt x="2492595" y="9889"/>
                    <a:pt x="2492595" y="22087"/>
                  </a:cubicBezTo>
                  <a:lnTo>
                    <a:pt x="2492595" y="303258"/>
                  </a:lnTo>
                  <a:cubicBezTo>
                    <a:pt x="2492595" y="309116"/>
                    <a:pt x="2490268" y="314734"/>
                    <a:pt x="2486126" y="318876"/>
                  </a:cubicBezTo>
                  <a:cubicBezTo>
                    <a:pt x="2481984" y="323018"/>
                    <a:pt x="2476366" y="325345"/>
                    <a:pt x="2470509" y="325345"/>
                  </a:cubicBezTo>
                  <a:lnTo>
                    <a:pt x="22087" y="325345"/>
                  </a:lnTo>
                  <a:cubicBezTo>
                    <a:pt x="9889" y="325345"/>
                    <a:pt x="0" y="315456"/>
                    <a:pt x="0" y="303258"/>
                  </a:cubicBezTo>
                  <a:lnTo>
                    <a:pt x="0" y="22087"/>
                  </a:lnTo>
                  <a:cubicBezTo>
                    <a:pt x="0" y="16229"/>
                    <a:pt x="2327" y="10611"/>
                    <a:pt x="6469" y="6469"/>
                  </a:cubicBezTo>
                  <a:cubicBezTo>
                    <a:pt x="10611" y="2327"/>
                    <a:pt x="16229" y="0"/>
                    <a:pt x="22087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92595" cy="36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3842966" y="6046104"/>
            <a:ext cx="5842437" cy="50553"/>
            <a:chOff x="0" y="0"/>
            <a:chExt cx="1538749" cy="133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8749" cy="13314"/>
            </a:xfrm>
            <a:custGeom>
              <a:avLst/>
              <a:gdLst/>
              <a:ahLst/>
              <a:cxnLst/>
              <a:rect r="r" b="b" t="t" l="l"/>
              <a:pathLst>
                <a:path h="13314" w="1538749">
                  <a:moveTo>
                    <a:pt x="0" y="0"/>
                  </a:moveTo>
                  <a:lnTo>
                    <a:pt x="1538749" y="0"/>
                  </a:lnTo>
                  <a:lnTo>
                    <a:pt x="1538749" y="13314"/>
                  </a:lnTo>
                  <a:lnTo>
                    <a:pt x="0" y="13314"/>
                  </a:lnTo>
                  <a:close/>
                </a:path>
              </a:pathLst>
            </a:custGeom>
            <a:solidFill>
              <a:srgbClr val="4760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8749" cy="51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10178" y="1311639"/>
            <a:ext cx="2744423" cy="5483182"/>
            <a:chOff x="0" y="0"/>
            <a:chExt cx="722811" cy="1444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2811" cy="1444130"/>
            </a:xfrm>
            <a:custGeom>
              <a:avLst/>
              <a:gdLst/>
              <a:ahLst/>
              <a:cxnLst/>
              <a:rect r="r" b="b" t="t" l="l"/>
              <a:pathLst>
                <a:path h="1444130" w="722811">
                  <a:moveTo>
                    <a:pt x="0" y="0"/>
                  </a:moveTo>
                  <a:lnTo>
                    <a:pt x="722811" y="0"/>
                  </a:lnTo>
                  <a:lnTo>
                    <a:pt x="722811" y="1444130"/>
                  </a:lnTo>
                  <a:lnTo>
                    <a:pt x="0" y="1444130"/>
                  </a:ln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22811" cy="148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-203137"/>
            <a:ext cx="4948650" cy="7674693"/>
            <a:chOff x="0" y="0"/>
            <a:chExt cx="766675" cy="11890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6675" cy="1189011"/>
            </a:xfrm>
            <a:custGeom>
              <a:avLst/>
              <a:gdLst/>
              <a:ahLst/>
              <a:cxnLst/>
              <a:rect r="r" b="b" t="t" l="l"/>
              <a:pathLst>
                <a:path h="1189011" w="766675">
                  <a:moveTo>
                    <a:pt x="0" y="0"/>
                  </a:moveTo>
                  <a:lnTo>
                    <a:pt x="766675" y="0"/>
                  </a:lnTo>
                  <a:lnTo>
                    <a:pt x="766675" y="1189011"/>
                  </a:lnTo>
                  <a:lnTo>
                    <a:pt x="0" y="1189011"/>
                  </a:lnTo>
                  <a:close/>
                </a:path>
              </a:pathLst>
            </a:custGeom>
            <a:blipFill>
              <a:blip r:embed="rId2"/>
              <a:stretch>
                <a:fillRect l="-107931" t="0" r="-4103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-406909" y="8390017"/>
            <a:ext cx="2162425" cy="2162425"/>
          </a:xfrm>
          <a:custGeom>
            <a:avLst/>
            <a:gdLst/>
            <a:ahLst/>
            <a:cxnLst/>
            <a:rect r="r" b="b" t="t" l="l"/>
            <a:pathLst>
              <a:path h="2162425" w="2162425">
                <a:moveTo>
                  <a:pt x="0" y="0"/>
                </a:moveTo>
                <a:lnTo>
                  <a:pt x="2162424" y="0"/>
                </a:lnTo>
                <a:lnTo>
                  <a:pt x="2162424" y="2162424"/>
                </a:lnTo>
                <a:lnTo>
                  <a:pt x="0" y="2162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264149" y="1009650"/>
            <a:ext cx="11995151" cy="13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69"/>
              </a:lnSpc>
            </a:pPr>
            <a:r>
              <a:rPr lang="en-US" b="true" sz="9000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AI- UI GENERATION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80161" y="3486794"/>
            <a:ext cx="7990447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the promotion technique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37852" y="5010494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business statistics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37852" y="6527828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Determine company strategy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7852" y="8063936"/>
            <a:ext cx="6275065" cy="56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Make plans for next year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7095" y="7922023"/>
            <a:ext cx="3091590" cy="3091590"/>
          </a:xfrm>
          <a:custGeom>
            <a:avLst/>
            <a:gdLst/>
            <a:ahLst/>
            <a:cxnLst/>
            <a:rect r="r" b="b" t="t" l="l"/>
            <a:pathLst>
              <a:path h="3091590" w="3091590">
                <a:moveTo>
                  <a:pt x="0" y="0"/>
                </a:moveTo>
                <a:lnTo>
                  <a:pt x="3091590" y="0"/>
                </a:lnTo>
                <a:lnTo>
                  <a:pt x="3091590" y="3091590"/>
                </a:lnTo>
                <a:lnTo>
                  <a:pt x="0" y="3091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6834" y="2282349"/>
            <a:ext cx="7118142" cy="1218014"/>
            <a:chOff x="0" y="0"/>
            <a:chExt cx="2015787" cy="3449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5787" cy="344929"/>
            </a:xfrm>
            <a:custGeom>
              <a:avLst/>
              <a:gdLst/>
              <a:ahLst/>
              <a:cxnLst/>
              <a:rect r="r" b="b" t="t" l="l"/>
              <a:pathLst>
                <a:path h="344929" w="2015787">
                  <a:moveTo>
                    <a:pt x="29366" y="0"/>
                  </a:moveTo>
                  <a:lnTo>
                    <a:pt x="1986421" y="0"/>
                  </a:lnTo>
                  <a:cubicBezTo>
                    <a:pt x="2002639" y="0"/>
                    <a:pt x="2015787" y="13148"/>
                    <a:pt x="2015787" y="29366"/>
                  </a:cubicBezTo>
                  <a:lnTo>
                    <a:pt x="2015787" y="315563"/>
                  </a:lnTo>
                  <a:cubicBezTo>
                    <a:pt x="2015787" y="331782"/>
                    <a:pt x="2002639" y="344929"/>
                    <a:pt x="1986421" y="344929"/>
                  </a:cubicBezTo>
                  <a:lnTo>
                    <a:pt x="29366" y="344929"/>
                  </a:lnTo>
                  <a:cubicBezTo>
                    <a:pt x="13148" y="344929"/>
                    <a:pt x="0" y="331782"/>
                    <a:pt x="0" y="315563"/>
                  </a:cubicBezTo>
                  <a:lnTo>
                    <a:pt x="0" y="29366"/>
                  </a:lnTo>
                  <a:cubicBezTo>
                    <a:pt x="0" y="13148"/>
                    <a:pt x="13148" y="0"/>
                    <a:pt x="29366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5787" cy="383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6834" y="3834688"/>
            <a:ext cx="7118142" cy="1218014"/>
            <a:chOff x="0" y="0"/>
            <a:chExt cx="2015787" cy="344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5787" cy="344929"/>
            </a:xfrm>
            <a:custGeom>
              <a:avLst/>
              <a:gdLst/>
              <a:ahLst/>
              <a:cxnLst/>
              <a:rect r="r" b="b" t="t" l="l"/>
              <a:pathLst>
                <a:path h="344929" w="2015787">
                  <a:moveTo>
                    <a:pt x="29366" y="0"/>
                  </a:moveTo>
                  <a:lnTo>
                    <a:pt x="1986421" y="0"/>
                  </a:lnTo>
                  <a:cubicBezTo>
                    <a:pt x="2002639" y="0"/>
                    <a:pt x="2015787" y="13148"/>
                    <a:pt x="2015787" y="29366"/>
                  </a:cubicBezTo>
                  <a:lnTo>
                    <a:pt x="2015787" y="315563"/>
                  </a:lnTo>
                  <a:cubicBezTo>
                    <a:pt x="2015787" y="331782"/>
                    <a:pt x="2002639" y="344929"/>
                    <a:pt x="1986421" y="344929"/>
                  </a:cubicBezTo>
                  <a:lnTo>
                    <a:pt x="29366" y="344929"/>
                  </a:lnTo>
                  <a:cubicBezTo>
                    <a:pt x="13148" y="344929"/>
                    <a:pt x="0" y="331782"/>
                    <a:pt x="0" y="315563"/>
                  </a:cubicBezTo>
                  <a:lnTo>
                    <a:pt x="0" y="29366"/>
                  </a:lnTo>
                  <a:cubicBezTo>
                    <a:pt x="0" y="13148"/>
                    <a:pt x="13148" y="0"/>
                    <a:pt x="29366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5787" cy="383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16834" y="5387026"/>
            <a:ext cx="7118142" cy="1218014"/>
            <a:chOff x="0" y="0"/>
            <a:chExt cx="2015787" cy="3449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5787" cy="344929"/>
            </a:xfrm>
            <a:custGeom>
              <a:avLst/>
              <a:gdLst/>
              <a:ahLst/>
              <a:cxnLst/>
              <a:rect r="r" b="b" t="t" l="l"/>
              <a:pathLst>
                <a:path h="344929" w="2015787">
                  <a:moveTo>
                    <a:pt x="29366" y="0"/>
                  </a:moveTo>
                  <a:lnTo>
                    <a:pt x="1986421" y="0"/>
                  </a:lnTo>
                  <a:cubicBezTo>
                    <a:pt x="2002639" y="0"/>
                    <a:pt x="2015787" y="13148"/>
                    <a:pt x="2015787" y="29366"/>
                  </a:cubicBezTo>
                  <a:lnTo>
                    <a:pt x="2015787" y="315563"/>
                  </a:lnTo>
                  <a:cubicBezTo>
                    <a:pt x="2015787" y="331782"/>
                    <a:pt x="2002639" y="344929"/>
                    <a:pt x="1986421" y="344929"/>
                  </a:cubicBezTo>
                  <a:lnTo>
                    <a:pt x="29366" y="344929"/>
                  </a:lnTo>
                  <a:cubicBezTo>
                    <a:pt x="13148" y="344929"/>
                    <a:pt x="0" y="331782"/>
                    <a:pt x="0" y="315563"/>
                  </a:cubicBezTo>
                  <a:lnTo>
                    <a:pt x="0" y="29366"/>
                  </a:lnTo>
                  <a:cubicBezTo>
                    <a:pt x="0" y="13148"/>
                    <a:pt x="13148" y="0"/>
                    <a:pt x="29366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5787" cy="383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6834" y="6941663"/>
            <a:ext cx="7118142" cy="1218014"/>
            <a:chOff x="0" y="0"/>
            <a:chExt cx="2015787" cy="344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5787" cy="344929"/>
            </a:xfrm>
            <a:custGeom>
              <a:avLst/>
              <a:gdLst/>
              <a:ahLst/>
              <a:cxnLst/>
              <a:rect r="r" b="b" t="t" l="l"/>
              <a:pathLst>
                <a:path h="344929" w="2015787">
                  <a:moveTo>
                    <a:pt x="29366" y="0"/>
                  </a:moveTo>
                  <a:lnTo>
                    <a:pt x="1986421" y="0"/>
                  </a:lnTo>
                  <a:cubicBezTo>
                    <a:pt x="2002639" y="0"/>
                    <a:pt x="2015787" y="13148"/>
                    <a:pt x="2015787" y="29366"/>
                  </a:cubicBezTo>
                  <a:lnTo>
                    <a:pt x="2015787" y="315563"/>
                  </a:lnTo>
                  <a:cubicBezTo>
                    <a:pt x="2015787" y="331782"/>
                    <a:pt x="2002639" y="344929"/>
                    <a:pt x="1986421" y="344929"/>
                  </a:cubicBezTo>
                  <a:lnTo>
                    <a:pt x="29366" y="344929"/>
                  </a:lnTo>
                  <a:cubicBezTo>
                    <a:pt x="13148" y="344929"/>
                    <a:pt x="0" y="331782"/>
                    <a:pt x="0" y="315563"/>
                  </a:cubicBezTo>
                  <a:lnTo>
                    <a:pt x="0" y="29366"/>
                  </a:lnTo>
                  <a:cubicBezTo>
                    <a:pt x="0" y="13148"/>
                    <a:pt x="13148" y="0"/>
                    <a:pt x="29366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5787" cy="383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30544" y="5447368"/>
            <a:ext cx="7240622" cy="2712309"/>
            <a:chOff x="0" y="0"/>
            <a:chExt cx="1121762" cy="4202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762" cy="420208"/>
            </a:xfrm>
            <a:custGeom>
              <a:avLst/>
              <a:gdLst/>
              <a:ahLst/>
              <a:cxnLst/>
              <a:rect r="r" b="b" t="t" l="l"/>
              <a:pathLst>
                <a:path h="420208" w="1121762">
                  <a:moveTo>
                    <a:pt x="0" y="0"/>
                  </a:moveTo>
                  <a:lnTo>
                    <a:pt x="1121762" y="0"/>
                  </a:lnTo>
                  <a:lnTo>
                    <a:pt x="1121762" y="420208"/>
                  </a:lnTo>
                  <a:lnTo>
                    <a:pt x="0" y="420208"/>
                  </a:lnTo>
                  <a:close/>
                </a:path>
              </a:pathLst>
            </a:custGeom>
            <a:blipFill>
              <a:blip r:embed="rId4"/>
              <a:stretch>
                <a:fillRect l="0" t="-38929" r="0" b="-3892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306357" y="762923"/>
            <a:ext cx="8364808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69"/>
              </a:lnSpc>
            </a:pPr>
            <a:r>
              <a:rPr lang="en-US" b="true" sz="9000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AI ITERATIONS &amp; CRITIQUE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26768" y="2501143"/>
            <a:ext cx="3498275" cy="66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3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26768" y="4053481"/>
            <a:ext cx="3498275" cy="66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3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26768" y="5602790"/>
            <a:ext cx="3498275" cy="66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3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Strategizing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99076" y="7160456"/>
            <a:ext cx="2553658" cy="66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3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Goals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15840742" y="7789665"/>
            <a:ext cx="3091590" cy="3091590"/>
          </a:xfrm>
          <a:custGeom>
            <a:avLst/>
            <a:gdLst/>
            <a:ahLst/>
            <a:cxnLst/>
            <a:rect r="r" b="b" t="t" l="l"/>
            <a:pathLst>
              <a:path h="3091590" w="3091590">
                <a:moveTo>
                  <a:pt x="3091590" y="0"/>
                </a:moveTo>
                <a:lnTo>
                  <a:pt x="0" y="0"/>
                </a:lnTo>
                <a:lnTo>
                  <a:pt x="0" y="3091590"/>
                </a:lnTo>
                <a:lnTo>
                  <a:pt x="3091590" y="3091590"/>
                </a:lnTo>
                <a:lnTo>
                  <a:pt x="30915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-268816" y="-710752"/>
            <a:ext cx="3091590" cy="3091590"/>
          </a:xfrm>
          <a:custGeom>
            <a:avLst/>
            <a:gdLst/>
            <a:ahLst/>
            <a:cxnLst/>
            <a:rect r="r" b="b" t="t" l="l"/>
            <a:pathLst>
              <a:path h="3091590" w="3091590">
                <a:moveTo>
                  <a:pt x="0" y="3091589"/>
                </a:moveTo>
                <a:lnTo>
                  <a:pt x="3091590" y="3091589"/>
                </a:lnTo>
                <a:lnTo>
                  <a:pt x="3091590" y="0"/>
                </a:lnTo>
                <a:lnTo>
                  <a:pt x="0" y="0"/>
                </a:lnTo>
                <a:lnTo>
                  <a:pt x="0" y="3091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0">
            <a:off x="15502586" y="-846159"/>
            <a:ext cx="3091590" cy="3091590"/>
          </a:xfrm>
          <a:custGeom>
            <a:avLst/>
            <a:gdLst/>
            <a:ahLst/>
            <a:cxnLst/>
            <a:rect r="r" b="b" t="t" l="l"/>
            <a:pathLst>
              <a:path h="3091590" w="3091590">
                <a:moveTo>
                  <a:pt x="3091589" y="3091590"/>
                </a:moveTo>
                <a:lnTo>
                  <a:pt x="0" y="3091590"/>
                </a:lnTo>
                <a:lnTo>
                  <a:pt x="0" y="0"/>
                </a:lnTo>
                <a:lnTo>
                  <a:pt x="3091589" y="0"/>
                </a:lnTo>
                <a:lnTo>
                  <a:pt x="3091589" y="3091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28656" y="8616911"/>
            <a:ext cx="18465745" cy="3727995"/>
            <a:chOff x="0" y="0"/>
            <a:chExt cx="2860827" cy="577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0827" cy="577564"/>
            </a:xfrm>
            <a:custGeom>
              <a:avLst/>
              <a:gdLst/>
              <a:ahLst/>
              <a:cxnLst/>
              <a:rect r="r" b="b" t="t" l="l"/>
              <a:pathLst>
                <a:path h="577564" w="2860827">
                  <a:moveTo>
                    <a:pt x="0" y="0"/>
                  </a:moveTo>
                  <a:lnTo>
                    <a:pt x="2860827" y="0"/>
                  </a:lnTo>
                  <a:lnTo>
                    <a:pt x="2860827" y="577564"/>
                  </a:lnTo>
                  <a:lnTo>
                    <a:pt x="0" y="577564"/>
                  </a:lnTo>
                  <a:close/>
                </a:path>
              </a:pathLst>
            </a:custGeom>
            <a:blipFill>
              <a:blip r:embed="rId2"/>
              <a:stretch>
                <a:fillRect l="0" t="-70203" r="0" b="-13834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28575"/>
            <a:ext cx="11441393" cy="136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6"/>
              </a:lnSpc>
            </a:pPr>
            <a:r>
              <a:rPr lang="en-US" sz="8802" b="true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DECISIONS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034536" y="5143500"/>
            <a:ext cx="4628078" cy="3387927"/>
            <a:chOff x="0" y="0"/>
            <a:chExt cx="1218918" cy="892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8918" cy="892294"/>
            </a:xfrm>
            <a:custGeom>
              <a:avLst/>
              <a:gdLst/>
              <a:ahLst/>
              <a:cxnLst/>
              <a:rect r="r" b="b" t="t" l="l"/>
              <a:pathLst>
                <a:path h="892294" w="1218918">
                  <a:moveTo>
                    <a:pt x="45166" y="0"/>
                  </a:moveTo>
                  <a:lnTo>
                    <a:pt x="1173752" y="0"/>
                  </a:lnTo>
                  <a:cubicBezTo>
                    <a:pt x="1198696" y="0"/>
                    <a:pt x="1218918" y="20222"/>
                    <a:pt x="1218918" y="45166"/>
                  </a:cubicBezTo>
                  <a:lnTo>
                    <a:pt x="1218918" y="847128"/>
                  </a:lnTo>
                  <a:cubicBezTo>
                    <a:pt x="1218918" y="872072"/>
                    <a:pt x="1198696" y="892294"/>
                    <a:pt x="1173752" y="892294"/>
                  </a:cubicBezTo>
                  <a:lnTo>
                    <a:pt x="45166" y="892294"/>
                  </a:lnTo>
                  <a:cubicBezTo>
                    <a:pt x="20222" y="892294"/>
                    <a:pt x="0" y="872072"/>
                    <a:pt x="0" y="847128"/>
                  </a:cubicBezTo>
                  <a:lnTo>
                    <a:pt x="0" y="45166"/>
                  </a:lnTo>
                  <a:cubicBezTo>
                    <a:pt x="0" y="20222"/>
                    <a:pt x="20222" y="0"/>
                    <a:pt x="45166" y="0"/>
                  </a:cubicBez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18918" cy="930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99020" y="5896344"/>
            <a:ext cx="1375078" cy="728791"/>
          </a:xfrm>
          <a:custGeom>
            <a:avLst/>
            <a:gdLst/>
            <a:ahLst/>
            <a:cxnLst/>
            <a:rect r="r" b="b" t="t" l="l"/>
            <a:pathLst>
              <a:path h="728791" w="1375078">
                <a:moveTo>
                  <a:pt x="0" y="0"/>
                </a:moveTo>
                <a:lnTo>
                  <a:pt x="1375078" y="0"/>
                </a:lnTo>
                <a:lnTo>
                  <a:pt x="1375078" y="728791"/>
                </a:lnTo>
                <a:lnTo>
                  <a:pt x="0" y="72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26332" y="6713639"/>
            <a:ext cx="3993440" cy="82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1"/>
              </a:lnSpc>
            </a:pPr>
            <a:r>
              <a:rPr lang="en-US" sz="46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23052" y="5896344"/>
            <a:ext cx="1375078" cy="728791"/>
          </a:xfrm>
          <a:custGeom>
            <a:avLst/>
            <a:gdLst/>
            <a:ahLst/>
            <a:cxnLst/>
            <a:rect r="r" b="b" t="t" l="l"/>
            <a:pathLst>
              <a:path h="728791" w="1375078">
                <a:moveTo>
                  <a:pt x="0" y="0"/>
                </a:moveTo>
                <a:lnTo>
                  <a:pt x="1375078" y="0"/>
                </a:lnTo>
                <a:lnTo>
                  <a:pt x="1375078" y="728791"/>
                </a:lnTo>
                <a:lnTo>
                  <a:pt x="0" y="72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91933" y="-327454"/>
            <a:ext cx="5135953" cy="10614454"/>
            <a:chOff x="0" y="0"/>
            <a:chExt cx="795693" cy="1644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5693" cy="1644457"/>
            </a:xfrm>
            <a:custGeom>
              <a:avLst/>
              <a:gdLst/>
              <a:ahLst/>
              <a:cxnLst/>
              <a:rect r="r" b="b" t="t" l="l"/>
              <a:pathLst>
                <a:path h="1644457" w="795693">
                  <a:moveTo>
                    <a:pt x="0" y="0"/>
                  </a:moveTo>
                  <a:lnTo>
                    <a:pt x="795693" y="0"/>
                  </a:lnTo>
                  <a:lnTo>
                    <a:pt x="795693" y="1644457"/>
                  </a:lnTo>
                  <a:lnTo>
                    <a:pt x="0" y="1644457"/>
                  </a:lnTo>
                  <a:close/>
                </a:path>
              </a:pathLst>
            </a:custGeom>
            <a:blipFill>
              <a:blip r:embed="rId2"/>
              <a:stretch>
                <a:fillRect l="-26726" t="0" r="-267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1102" y="3531263"/>
            <a:ext cx="10867038" cy="5826950"/>
            <a:chOff x="0" y="0"/>
            <a:chExt cx="2862101" cy="1534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62100" cy="1534670"/>
            </a:xfrm>
            <a:custGeom>
              <a:avLst/>
              <a:gdLst/>
              <a:ahLst/>
              <a:cxnLst/>
              <a:rect r="r" b="b" t="t" l="l"/>
              <a:pathLst>
                <a:path h="1534670" w="2862100">
                  <a:moveTo>
                    <a:pt x="0" y="0"/>
                  </a:moveTo>
                  <a:lnTo>
                    <a:pt x="2862100" y="0"/>
                  </a:lnTo>
                  <a:lnTo>
                    <a:pt x="2862100" y="1534670"/>
                  </a:lnTo>
                  <a:lnTo>
                    <a:pt x="0" y="1534670"/>
                  </a:ln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62101" cy="1572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7607511"/>
            <a:ext cx="2734126" cy="3480948"/>
          </a:xfrm>
          <a:custGeom>
            <a:avLst/>
            <a:gdLst/>
            <a:ahLst/>
            <a:cxnLst/>
            <a:rect r="r" b="b" t="t" l="l"/>
            <a:pathLst>
              <a:path h="3480948" w="2734126">
                <a:moveTo>
                  <a:pt x="0" y="0"/>
                </a:moveTo>
                <a:lnTo>
                  <a:pt x="2734126" y="0"/>
                </a:lnTo>
                <a:lnTo>
                  <a:pt x="2734126" y="3480948"/>
                </a:lnTo>
                <a:lnTo>
                  <a:pt x="0" y="34809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71283"/>
            <a:ext cx="13455539" cy="139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9"/>
              </a:lnSpc>
            </a:pPr>
            <a:r>
              <a:rPr lang="en-US" sz="9017" b="true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WIREFRAME → FINAL 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6976" y="4022479"/>
            <a:ext cx="9193838" cy="67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04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$ 1,36 billion Total net assets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6976" y="5860876"/>
            <a:ext cx="5136996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350+ Projects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6976" y="6916286"/>
            <a:ext cx="5136996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500+ Employee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6976" y="7967841"/>
            <a:ext cx="4671381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9.000 Clients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6976" y="4906315"/>
            <a:ext cx="8302118" cy="7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150+ Projects On Going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91933" y="-327454"/>
            <a:ext cx="5135953" cy="10614454"/>
            <a:chOff x="0" y="0"/>
            <a:chExt cx="795693" cy="1644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5693" cy="1644457"/>
            </a:xfrm>
            <a:custGeom>
              <a:avLst/>
              <a:gdLst/>
              <a:ahLst/>
              <a:cxnLst/>
              <a:rect r="r" b="b" t="t" l="l"/>
              <a:pathLst>
                <a:path h="1644457" w="795693">
                  <a:moveTo>
                    <a:pt x="0" y="0"/>
                  </a:moveTo>
                  <a:lnTo>
                    <a:pt x="795693" y="0"/>
                  </a:lnTo>
                  <a:lnTo>
                    <a:pt x="795693" y="1644457"/>
                  </a:lnTo>
                  <a:lnTo>
                    <a:pt x="0" y="1644457"/>
                  </a:lnTo>
                  <a:close/>
                </a:path>
              </a:pathLst>
            </a:custGeom>
            <a:blipFill>
              <a:blip r:embed="rId2"/>
              <a:stretch>
                <a:fillRect l="-26726" t="0" r="-267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1102" y="3531263"/>
            <a:ext cx="10867038" cy="5826950"/>
            <a:chOff x="0" y="0"/>
            <a:chExt cx="2862101" cy="1534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62100" cy="1534670"/>
            </a:xfrm>
            <a:custGeom>
              <a:avLst/>
              <a:gdLst/>
              <a:ahLst/>
              <a:cxnLst/>
              <a:rect r="r" b="b" t="t" l="l"/>
              <a:pathLst>
                <a:path h="1534670" w="2862100">
                  <a:moveTo>
                    <a:pt x="0" y="0"/>
                  </a:moveTo>
                  <a:lnTo>
                    <a:pt x="2862100" y="0"/>
                  </a:lnTo>
                  <a:lnTo>
                    <a:pt x="2862100" y="1534670"/>
                  </a:lnTo>
                  <a:lnTo>
                    <a:pt x="0" y="1534670"/>
                  </a:lnTo>
                  <a:close/>
                </a:path>
              </a:pathLst>
            </a:custGeom>
            <a:solidFill>
              <a:srgbClr val="548CA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62101" cy="1572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7607511"/>
            <a:ext cx="2734126" cy="3480948"/>
          </a:xfrm>
          <a:custGeom>
            <a:avLst/>
            <a:gdLst/>
            <a:ahLst/>
            <a:cxnLst/>
            <a:rect r="r" b="b" t="t" l="l"/>
            <a:pathLst>
              <a:path h="3480948" w="2734126">
                <a:moveTo>
                  <a:pt x="0" y="0"/>
                </a:moveTo>
                <a:lnTo>
                  <a:pt x="2734126" y="0"/>
                </a:lnTo>
                <a:lnTo>
                  <a:pt x="2734126" y="3480948"/>
                </a:lnTo>
                <a:lnTo>
                  <a:pt x="0" y="34809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318" y="86683"/>
            <a:ext cx="11207166" cy="139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9"/>
              </a:lnSpc>
            </a:pPr>
            <a:r>
              <a:rPr lang="en-US" sz="9017" b="true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76976" y="4022479"/>
            <a:ext cx="9193838" cy="67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04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$ 1,36 billion Total net assets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6976" y="5860876"/>
            <a:ext cx="5136996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350+ Projects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6976" y="6916286"/>
            <a:ext cx="5136996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500+ Employee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6976" y="7967841"/>
            <a:ext cx="4671381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9.000 Clients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6976" y="4906315"/>
            <a:ext cx="8302118" cy="7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191" indent="-453595" lvl="1">
              <a:lnSpc>
                <a:spcPts val="5882"/>
              </a:lnSpc>
              <a:buFont typeface="Arial"/>
              <a:buChar char="•"/>
            </a:pP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150+ Projects On Going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24595"/>
            <a:ext cx="18691453" cy="2862405"/>
            <a:chOff x="0" y="0"/>
            <a:chExt cx="2895795" cy="443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5795" cy="443461"/>
            </a:xfrm>
            <a:custGeom>
              <a:avLst/>
              <a:gdLst/>
              <a:ahLst/>
              <a:cxnLst/>
              <a:rect r="r" b="b" t="t" l="l"/>
              <a:pathLst>
                <a:path h="443461" w="2895795">
                  <a:moveTo>
                    <a:pt x="0" y="0"/>
                  </a:moveTo>
                  <a:lnTo>
                    <a:pt x="2895795" y="0"/>
                  </a:lnTo>
                  <a:lnTo>
                    <a:pt x="2895795" y="443461"/>
                  </a:lnTo>
                  <a:lnTo>
                    <a:pt x="0" y="443461"/>
                  </a:lnTo>
                  <a:close/>
                </a:path>
              </a:pathLst>
            </a:custGeom>
            <a:blipFill>
              <a:blip r:embed="rId2"/>
              <a:stretch>
                <a:fillRect l="0" t="-205379" r="0" b="-12968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268578" y="-268578"/>
            <a:ext cx="1966538" cy="2503694"/>
          </a:xfrm>
          <a:custGeom>
            <a:avLst/>
            <a:gdLst/>
            <a:ahLst/>
            <a:cxnLst/>
            <a:rect r="r" b="b" t="t" l="l"/>
            <a:pathLst>
              <a:path h="2503694" w="1966538">
                <a:moveTo>
                  <a:pt x="0" y="0"/>
                </a:moveTo>
                <a:lnTo>
                  <a:pt x="1966538" y="0"/>
                </a:lnTo>
                <a:lnTo>
                  <a:pt x="1966538" y="2503694"/>
                </a:lnTo>
                <a:lnTo>
                  <a:pt x="0" y="2503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40336" y="4255556"/>
            <a:ext cx="12807327" cy="169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are a company engaged in the business sector. We not only provide success to your business but also provide an excellent attitude, approach, and treatment to our clients.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01290" y="194094"/>
            <a:ext cx="11269822" cy="267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0"/>
              </a:lnSpc>
            </a:pPr>
            <a:r>
              <a:rPr lang="en-US" b="true" sz="9000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ACCESSIBILITY / RESPONSIVE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5400000">
            <a:off x="16052884" y="-261247"/>
            <a:ext cx="1966538" cy="2503694"/>
          </a:xfrm>
          <a:custGeom>
            <a:avLst/>
            <a:gdLst/>
            <a:ahLst/>
            <a:cxnLst/>
            <a:rect r="r" b="b" t="t" l="l"/>
            <a:pathLst>
              <a:path h="2503694" w="1966538">
                <a:moveTo>
                  <a:pt x="0" y="2503694"/>
                </a:moveTo>
                <a:lnTo>
                  <a:pt x="1966538" y="2503694"/>
                </a:lnTo>
                <a:lnTo>
                  <a:pt x="1966538" y="0"/>
                </a:lnTo>
                <a:lnTo>
                  <a:pt x="0" y="0"/>
                </a:lnTo>
                <a:lnTo>
                  <a:pt x="0" y="25036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974825" y="7209737"/>
            <a:ext cx="3986207" cy="3391900"/>
          </a:xfrm>
          <a:custGeom>
            <a:avLst/>
            <a:gdLst/>
            <a:ahLst/>
            <a:cxnLst/>
            <a:rect r="r" b="b" t="t" l="l"/>
            <a:pathLst>
              <a:path h="3391900" w="3986207">
                <a:moveTo>
                  <a:pt x="3986208" y="0"/>
                </a:moveTo>
                <a:lnTo>
                  <a:pt x="0" y="0"/>
                </a:lnTo>
                <a:lnTo>
                  <a:pt x="0" y="3391901"/>
                </a:lnTo>
                <a:lnTo>
                  <a:pt x="3986208" y="3391901"/>
                </a:lnTo>
                <a:lnTo>
                  <a:pt x="39862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13903" y="389222"/>
            <a:ext cx="12748275" cy="151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3"/>
              </a:lnSpc>
            </a:pPr>
            <a:r>
              <a:rPr lang="en-US" b="true" sz="9763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LIVE PROTOTYPE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796813" y="3571647"/>
            <a:ext cx="4468301" cy="2359726"/>
            <a:chOff x="0" y="0"/>
            <a:chExt cx="763720" cy="40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3720" cy="403323"/>
            </a:xfrm>
            <a:custGeom>
              <a:avLst/>
              <a:gdLst/>
              <a:ahLst/>
              <a:cxnLst/>
              <a:rect r="r" b="b" t="t" l="l"/>
              <a:pathLst>
                <a:path h="403323" w="763720">
                  <a:moveTo>
                    <a:pt x="0" y="0"/>
                  </a:moveTo>
                  <a:lnTo>
                    <a:pt x="763720" y="0"/>
                  </a:lnTo>
                  <a:lnTo>
                    <a:pt x="763720" y="403323"/>
                  </a:lnTo>
                  <a:lnTo>
                    <a:pt x="0" y="403323"/>
                  </a:lnTo>
                  <a:close/>
                </a:path>
              </a:pathLst>
            </a:custGeom>
            <a:blipFill>
              <a:blip r:embed="rId4"/>
              <a:stretch>
                <a:fillRect l="0" t="0" r="-8037" b="-365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96813" y="6349570"/>
            <a:ext cx="4370390" cy="2315518"/>
            <a:chOff x="0" y="0"/>
            <a:chExt cx="1269874" cy="672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9874" cy="672804"/>
            </a:xfrm>
            <a:custGeom>
              <a:avLst/>
              <a:gdLst/>
              <a:ahLst/>
              <a:cxnLst/>
              <a:rect r="r" b="b" t="t" l="l"/>
              <a:pathLst>
                <a:path h="672804" w="1269874">
                  <a:moveTo>
                    <a:pt x="47829" y="0"/>
                  </a:moveTo>
                  <a:lnTo>
                    <a:pt x="1222045" y="0"/>
                  </a:lnTo>
                  <a:cubicBezTo>
                    <a:pt x="1234730" y="0"/>
                    <a:pt x="1246896" y="5039"/>
                    <a:pt x="1255865" y="14009"/>
                  </a:cubicBezTo>
                  <a:cubicBezTo>
                    <a:pt x="1264835" y="22979"/>
                    <a:pt x="1269874" y="35144"/>
                    <a:pt x="1269874" y="47829"/>
                  </a:cubicBezTo>
                  <a:lnTo>
                    <a:pt x="1269874" y="624975"/>
                  </a:lnTo>
                  <a:cubicBezTo>
                    <a:pt x="1269874" y="637660"/>
                    <a:pt x="1264835" y="649826"/>
                    <a:pt x="1255865" y="658795"/>
                  </a:cubicBezTo>
                  <a:cubicBezTo>
                    <a:pt x="1246896" y="667765"/>
                    <a:pt x="1234730" y="672804"/>
                    <a:pt x="1222045" y="672804"/>
                  </a:cubicBezTo>
                  <a:lnTo>
                    <a:pt x="47829" y="672804"/>
                  </a:lnTo>
                  <a:cubicBezTo>
                    <a:pt x="35144" y="672804"/>
                    <a:pt x="22979" y="667765"/>
                    <a:pt x="14009" y="658795"/>
                  </a:cubicBezTo>
                  <a:cubicBezTo>
                    <a:pt x="5039" y="649826"/>
                    <a:pt x="0" y="637660"/>
                    <a:pt x="0" y="624975"/>
                  </a:cubicBezTo>
                  <a:lnTo>
                    <a:pt x="0" y="47829"/>
                  </a:lnTo>
                  <a:cubicBezTo>
                    <a:pt x="0" y="35144"/>
                    <a:pt x="5039" y="22979"/>
                    <a:pt x="14009" y="14009"/>
                  </a:cubicBezTo>
                  <a:cubicBezTo>
                    <a:pt x="22979" y="5039"/>
                    <a:pt x="35144" y="0"/>
                    <a:pt x="47829" y="0"/>
                  </a:cubicBezTo>
                  <a:close/>
                </a:path>
              </a:pathLst>
            </a:custGeom>
            <a:solidFill>
              <a:srgbClr val="4760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69874" cy="710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22886" y="3571647"/>
            <a:ext cx="4468301" cy="2359726"/>
            <a:chOff x="0" y="0"/>
            <a:chExt cx="763720" cy="4033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720" cy="403323"/>
            </a:xfrm>
            <a:custGeom>
              <a:avLst/>
              <a:gdLst/>
              <a:ahLst/>
              <a:cxnLst/>
              <a:rect r="r" b="b" t="t" l="l"/>
              <a:pathLst>
                <a:path h="403323" w="763720">
                  <a:moveTo>
                    <a:pt x="0" y="0"/>
                  </a:moveTo>
                  <a:lnTo>
                    <a:pt x="763720" y="0"/>
                  </a:lnTo>
                  <a:lnTo>
                    <a:pt x="763720" y="403323"/>
                  </a:lnTo>
                  <a:lnTo>
                    <a:pt x="0" y="403323"/>
                  </a:lnTo>
                  <a:close/>
                </a:path>
              </a:pathLst>
            </a:custGeom>
            <a:blipFill>
              <a:blip r:embed="rId5"/>
              <a:stretch>
                <a:fillRect l="-25635" t="-11587" r="-33659" b="-8975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20796" y="6349570"/>
            <a:ext cx="4370390" cy="2315518"/>
            <a:chOff x="0" y="0"/>
            <a:chExt cx="1269874" cy="6728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9874" cy="672804"/>
            </a:xfrm>
            <a:custGeom>
              <a:avLst/>
              <a:gdLst/>
              <a:ahLst/>
              <a:cxnLst/>
              <a:rect r="r" b="b" t="t" l="l"/>
              <a:pathLst>
                <a:path h="672804" w="1269874">
                  <a:moveTo>
                    <a:pt x="47829" y="0"/>
                  </a:moveTo>
                  <a:lnTo>
                    <a:pt x="1222045" y="0"/>
                  </a:lnTo>
                  <a:cubicBezTo>
                    <a:pt x="1234730" y="0"/>
                    <a:pt x="1246896" y="5039"/>
                    <a:pt x="1255865" y="14009"/>
                  </a:cubicBezTo>
                  <a:cubicBezTo>
                    <a:pt x="1264835" y="22979"/>
                    <a:pt x="1269874" y="35144"/>
                    <a:pt x="1269874" y="47829"/>
                  </a:cubicBezTo>
                  <a:lnTo>
                    <a:pt x="1269874" y="624975"/>
                  </a:lnTo>
                  <a:cubicBezTo>
                    <a:pt x="1269874" y="637660"/>
                    <a:pt x="1264835" y="649826"/>
                    <a:pt x="1255865" y="658795"/>
                  </a:cubicBezTo>
                  <a:cubicBezTo>
                    <a:pt x="1246896" y="667765"/>
                    <a:pt x="1234730" y="672804"/>
                    <a:pt x="1222045" y="672804"/>
                  </a:cubicBezTo>
                  <a:lnTo>
                    <a:pt x="47829" y="672804"/>
                  </a:lnTo>
                  <a:cubicBezTo>
                    <a:pt x="35144" y="672804"/>
                    <a:pt x="22979" y="667765"/>
                    <a:pt x="14009" y="658795"/>
                  </a:cubicBezTo>
                  <a:cubicBezTo>
                    <a:pt x="5039" y="649826"/>
                    <a:pt x="0" y="637660"/>
                    <a:pt x="0" y="624975"/>
                  </a:cubicBezTo>
                  <a:lnTo>
                    <a:pt x="0" y="47829"/>
                  </a:lnTo>
                  <a:cubicBezTo>
                    <a:pt x="0" y="35144"/>
                    <a:pt x="5039" y="22979"/>
                    <a:pt x="14009" y="14009"/>
                  </a:cubicBezTo>
                  <a:cubicBezTo>
                    <a:pt x="22979" y="5039"/>
                    <a:pt x="35144" y="0"/>
                    <a:pt x="47829" y="0"/>
                  </a:cubicBezTo>
                  <a:close/>
                </a:path>
              </a:pathLst>
            </a:custGeom>
            <a:solidFill>
              <a:srgbClr val="4760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69874" cy="710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09413" y="3571647"/>
            <a:ext cx="4468301" cy="2359726"/>
            <a:chOff x="0" y="0"/>
            <a:chExt cx="763720" cy="403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3720" cy="403323"/>
            </a:xfrm>
            <a:custGeom>
              <a:avLst/>
              <a:gdLst/>
              <a:ahLst/>
              <a:cxnLst/>
              <a:rect r="r" b="b" t="t" l="l"/>
              <a:pathLst>
                <a:path h="403323" w="763720">
                  <a:moveTo>
                    <a:pt x="0" y="0"/>
                  </a:moveTo>
                  <a:lnTo>
                    <a:pt x="763720" y="0"/>
                  </a:lnTo>
                  <a:lnTo>
                    <a:pt x="763720" y="403323"/>
                  </a:lnTo>
                  <a:lnTo>
                    <a:pt x="0" y="40332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615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09413" y="6393181"/>
            <a:ext cx="4370390" cy="2315518"/>
            <a:chOff x="0" y="0"/>
            <a:chExt cx="1269874" cy="6728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9874" cy="672804"/>
            </a:xfrm>
            <a:custGeom>
              <a:avLst/>
              <a:gdLst/>
              <a:ahLst/>
              <a:cxnLst/>
              <a:rect r="r" b="b" t="t" l="l"/>
              <a:pathLst>
                <a:path h="672804" w="1269874">
                  <a:moveTo>
                    <a:pt x="47829" y="0"/>
                  </a:moveTo>
                  <a:lnTo>
                    <a:pt x="1222045" y="0"/>
                  </a:lnTo>
                  <a:cubicBezTo>
                    <a:pt x="1234730" y="0"/>
                    <a:pt x="1246896" y="5039"/>
                    <a:pt x="1255865" y="14009"/>
                  </a:cubicBezTo>
                  <a:cubicBezTo>
                    <a:pt x="1264835" y="22979"/>
                    <a:pt x="1269874" y="35144"/>
                    <a:pt x="1269874" y="47829"/>
                  </a:cubicBezTo>
                  <a:lnTo>
                    <a:pt x="1269874" y="624975"/>
                  </a:lnTo>
                  <a:cubicBezTo>
                    <a:pt x="1269874" y="637660"/>
                    <a:pt x="1264835" y="649826"/>
                    <a:pt x="1255865" y="658795"/>
                  </a:cubicBezTo>
                  <a:cubicBezTo>
                    <a:pt x="1246896" y="667765"/>
                    <a:pt x="1234730" y="672804"/>
                    <a:pt x="1222045" y="672804"/>
                  </a:cubicBezTo>
                  <a:lnTo>
                    <a:pt x="47829" y="672804"/>
                  </a:lnTo>
                  <a:cubicBezTo>
                    <a:pt x="35144" y="672804"/>
                    <a:pt x="22979" y="667765"/>
                    <a:pt x="14009" y="658795"/>
                  </a:cubicBezTo>
                  <a:cubicBezTo>
                    <a:pt x="5039" y="649826"/>
                    <a:pt x="0" y="637660"/>
                    <a:pt x="0" y="624975"/>
                  </a:cubicBezTo>
                  <a:lnTo>
                    <a:pt x="0" y="47829"/>
                  </a:lnTo>
                  <a:cubicBezTo>
                    <a:pt x="0" y="35144"/>
                    <a:pt x="5039" y="22979"/>
                    <a:pt x="14009" y="14009"/>
                  </a:cubicBezTo>
                  <a:cubicBezTo>
                    <a:pt x="22979" y="5039"/>
                    <a:pt x="35144" y="0"/>
                    <a:pt x="47829" y="0"/>
                  </a:cubicBezTo>
                  <a:close/>
                </a:path>
              </a:pathLst>
            </a:custGeom>
            <a:solidFill>
              <a:srgbClr val="4760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69874" cy="710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-675151" y="13095"/>
            <a:ext cx="3986207" cy="3391900"/>
          </a:xfrm>
          <a:custGeom>
            <a:avLst/>
            <a:gdLst/>
            <a:ahLst/>
            <a:cxnLst/>
            <a:rect r="r" b="b" t="t" l="l"/>
            <a:pathLst>
              <a:path h="3391900" w="3986207">
                <a:moveTo>
                  <a:pt x="0" y="0"/>
                </a:moveTo>
                <a:lnTo>
                  <a:pt x="3986208" y="0"/>
                </a:lnTo>
                <a:lnTo>
                  <a:pt x="3986208" y="3391900"/>
                </a:lnTo>
                <a:lnTo>
                  <a:pt x="0" y="339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92084" y="6867768"/>
            <a:ext cx="2779850" cy="64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</a:pPr>
            <a:r>
              <a:rPr lang="en-US" b="true" sz="35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Aaron Loeb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40674" y="7536921"/>
            <a:ext cx="3682669" cy="50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sz="27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manager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0361" y="6822201"/>
            <a:ext cx="3231260" cy="64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</a:pPr>
            <a:r>
              <a:rPr lang="en-US" b="true" sz="35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5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Cahaya Dewi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64657" y="7514817"/>
            <a:ext cx="3682669" cy="50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sz="27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Head of marketing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94195" y="6864823"/>
            <a:ext cx="3800825" cy="64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1"/>
              </a:lnSpc>
            </a:pPr>
            <a:r>
              <a:rPr lang="en-US" b="true" sz="35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Daniel Gallego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53273" y="7605063"/>
            <a:ext cx="3682669" cy="50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sz="27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Digital Creative</a:t>
            </a:r>
            <a:r>
              <a:rPr lang="en-US" sz="27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24595"/>
            <a:ext cx="18691453" cy="2862405"/>
            <a:chOff x="0" y="0"/>
            <a:chExt cx="2895795" cy="443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5795" cy="443461"/>
            </a:xfrm>
            <a:custGeom>
              <a:avLst/>
              <a:gdLst/>
              <a:ahLst/>
              <a:cxnLst/>
              <a:rect r="r" b="b" t="t" l="l"/>
              <a:pathLst>
                <a:path h="443461" w="2895795">
                  <a:moveTo>
                    <a:pt x="0" y="0"/>
                  </a:moveTo>
                  <a:lnTo>
                    <a:pt x="2895795" y="0"/>
                  </a:lnTo>
                  <a:lnTo>
                    <a:pt x="2895795" y="443461"/>
                  </a:lnTo>
                  <a:lnTo>
                    <a:pt x="0" y="443461"/>
                  </a:lnTo>
                  <a:close/>
                </a:path>
              </a:pathLst>
            </a:custGeom>
            <a:blipFill>
              <a:blip r:embed="rId2"/>
              <a:stretch>
                <a:fillRect l="0" t="-95836" r="0" b="-9583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-47625" y="-47625"/>
            <a:ext cx="3881568" cy="3881568"/>
          </a:xfrm>
          <a:custGeom>
            <a:avLst/>
            <a:gdLst/>
            <a:ahLst/>
            <a:cxnLst/>
            <a:rect r="r" b="b" t="t" l="l"/>
            <a:pathLst>
              <a:path h="3881568" w="3881568">
                <a:moveTo>
                  <a:pt x="0" y="0"/>
                </a:moveTo>
                <a:lnTo>
                  <a:pt x="3881568" y="0"/>
                </a:lnTo>
                <a:lnTo>
                  <a:pt x="3881568" y="3881568"/>
                </a:lnTo>
                <a:lnTo>
                  <a:pt x="0" y="3881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96270" y="4718447"/>
            <a:ext cx="9295459" cy="128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Hopefully, this year's report can make our company even better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5400000">
            <a:off x="14621799" y="-263150"/>
            <a:ext cx="3881568" cy="3881568"/>
          </a:xfrm>
          <a:custGeom>
            <a:avLst/>
            <a:gdLst/>
            <a:ahLst/>
            <a:cxnLst/>
            <a:rect r="r" b="b" t="t" l="l"/>
            <a:pathLst>
              <a:path h="3881568" w="3881568">
                <a:moveTo>
                  <a:pt x="3881569" y="0"/>
                </a:moveTo>
                <a:lnTo>
                  <a:pt x="0" y="0"/>
                </a:lnTo>
                <a:lnTo>
                  <a:pt x="0" y="3881568"/>
                </a:lnTo>
                <a:lnTo>
                  <a:pt x="3881569" y="3881568"/>
                </a:lnTo>
                <a:lnTo>
                  <a:pt x="38815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29597" y="714137"/>
            <a:ext cx="12828806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9"/>
              </a:lnSpc>
            </a:pPr>
            <a:r>
              <a:rPr lang="en-US" b="true" sz="9000">
                <a:solidFill>
                  <a:srgbClr val="548CA8"/>
                </a:solidFill>
                <a:latin typeface="Poppins Bold"/>
                <a:ea typeface="Poppins Bold"/>
                <a:cs typeface="Poppins Bold"/>
                <a:sym typeface="Poppins Bold"/>
              </a:rPr>
              <a:t>FLUTTER HANDOFF /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DAHYzh2uCJA</dc:identifier>
  <dcterms:modified xsi:type="dcterms:W3CDTF">2011-08-01T06:04:30Z</dcterms:modified>
  <cp:revision>1</cp:revision>
  <dc:title>Blue and White Geometric Business Report Presentation</dc:title>
</cp:coreProperties>
</file>